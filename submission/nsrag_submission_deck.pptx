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595360" y="-182880"/>
            <a:ext cx="3931920" cy="1828800"/>
          </a:xfrm>
          <a:prstGeom prst="rect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326880" y="5303520"/>
            <a:ext cx="3200400" cy="2011680"/>
          </a:xfrm>
          <a:prstGeom prst="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78638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2A541"/>
                </a:solidFill>
                <a:latin typeface="Aptos Display"/>
              </a:rPr>
              <a:t>Neuro-Symbolic-RAG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8046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 Display"/>
              </a:rPr>
              <a:t>A Multi-Hop Agent Framework for Verifiable Scientific Reasoning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743200"/>
            <a:ext cx="70408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7F4EA"/>
                </a:solidFill>
                <a:latin typeface="Aptos"/>
              </a:rPr>
              <a:t>Codebase review, achieved results, and submission framing based on the current repository state.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65760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7F4EA"/>
                </a:solidFill>
                <a:latin typeface="Aptos"/>
              </a:rPr>
              <a:t>Phase 4 is implemented and evaluated; Phase 5 verifier is implemented and pending final benchmark reporting.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096512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7F4EA"/>
                </a:solidFill>
                <a:latin typeface="Aptos"/>
              </a:rPr>
              <a:t>Presenter: Student Name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4709160"/>
            <a:ext cx="3703320" cy="1097280"/>
          </a:xfrm>
          <a:prstGeom prst="roundRect">
            <a:avLst/>
          </a:prstGeom>
          <a:solidFill>
            <a:srgbClr val="D9EEF2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818888"/>
            <a:ext cx="3383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1F33"/>
                </a:solidFill>
                <a:latin typeface="Aptos Display"/>
              </a:rPr>
              <a:t>Current headline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184648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32F3E"/>
                </a:solidFill>
                <a:latin typeface="Aptos"/>
              </a:rPr>
              <a:t>Phase 2 and 3 are strong. Phase 4 is near target with EM 8.8 and F1 19.53.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21792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7F4EA"/>
                </a:solidFill>
                <a:latin typeface="Aptos"/>
              </a:rPr>
              <a:t>Prepared on April 7,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008"/>
            <a:ext cx="79552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 Display"/>
              </a:rPr>
              <a:t>Why This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66760" y="91440"/>
            <a:ext cx="3291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F7F4EA"/>
                </a:solidFill>
                <a:latin typeface="Aptos"/>
              </a:rPr>
              <a:t>problem -&gt; system -&gt; evidence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914400"/>
            <a:ext cx="3657600" cy="1828800"/>
          </a:xfrm>
          <a:prstGeom prst="roundRect">
            <a:avLst/>
          </a:prstGeom>
          <a:solidFill>
            <a:srgbClr val="FCE7C3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024128"/>
            <a:ext cx="3337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1F33"/>
                </a:solidFill>
                <a:latin typeface="Aptos Display"/>
              </a:rPr>
              <a:t>Research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389888"/>
            <a:ext cx="33375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32F3E"/>
                </a:solidFill>
                <a:latin typeface="Aptos"/>
              </a:rPr>
              <a:t>Multi-hop and scientific questions need more than a single retrieval step. Systems must decompose, route, reason, and verify.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61104" y="914400"/>
            <a:ext cx="3703320" cy="1828800"/>
          </a:xfrm>
          <a:prstGeom prst="roundRect">
            <a:avLst/>
          </a:prstGeom>
          <a:solidFill>
            <a:srgbClr val="D9EEF2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5696" y="1024128"/>
            <a:ext cx="3383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1F33"/>
                </a:solidFill>
                <a:latin typeface="Aptos Display"/>
              </a:rPr>
              <a:t>NSRAG answer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25696" y="1389888"/>
            <a:ext cx="33832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32F3E"/>
                </a:solidFill>
                <a:latin typeface="Aptos"/>
              </a:rPr>
              <a:t>Use neural retrieval for evidence, symbolic structure for hop planning, and formal verification for trustworthiness.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914400"/>
            <a:ext cx="3611880" cy="1828800"/>
          </a:xfrm>
          <a:prstGeom prst="roundRect">
            <a:avLst/>
          </a:prstGeom>
          <a:solidFill>
            <a:srgbClr val="D4F0EA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84464" y="1024128"/>
            <a:ext cx="3291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1F33"/>
                </a:solidFill>
                <a:latin typeface="Aptos Display"/>
              </a:rPr>
              <a:t>What the repo already proves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84464" y="1389888"/>
            <a:ext cx="32918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32F3E"/>
                </a:solidFill>
                <a:latin typeface="Aptos"/>
              </a:rPr>
              <a:t>This is not just an idea. The codebase already implements every major layer from decomposition to verification.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1546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B1F33"/>
                </a:solidFill>
                <a:latin typeface="Aptos Display"/>
              </a:rPr>
              <a:t>Submission stance: present this as a strong prototype with validated modules and a nearly-complete end-to-end story.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49039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232F3E"/>
                </a:solidFill>
                <a:latin typeface="Aptos"/>
              </a:rPr>
              <a:t>Phase 2 gives explicit and interpretable multi-hop plans.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232F3E"/>
                </a:solidFill>
                <a:latin typeface="Aptos"/>
              </a:rPr>
              <a:t>Phase 3 provides the neuro-symbolic bridge: dense retrieval, optional graph traversal, and SymPy reasoning.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232F3E"/>
                </a:solidFill>
                <a:latin typeface="Aptos"/>
              </a:rPr>
              <a:t>Phase 4 integrates the pipeline into an agent with hop traces, confidence, and final synthesis.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232F3E"/>
                </a:solidFill>
                <a:latin typeface="Aptos"/>
              </a:rPr>
              <a:t>Phase 5 adds a verifier stack, which makes the project stronger than a pure generation baseline.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6419088"/>
            <a:ext cx="2788920" cy="329184"/>
          </a:xfrm>
          <a:prstGeom prst="round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98280" y="6483096"/>
            <a:ext cx="2514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NSRAG | submission-ready snapshot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008"/>
            <a:ext cx="79552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 Display"/>
              </a:rPr>
              <a:t>What The Codebase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66760" y="91440"/>
            <a:ext cx="3291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F7F4EA"/>
                </a:solidFill>
                <a:latin typeface="Aptos"/>
              </a:rPr>
              <a:t>repo structure at a glance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914400"/>
            <a:ext cx="379476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E5D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024128"/>
            <a:ext cx="34747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1F33"/>
                </a:solidFill>
                <a:latin typeface="Aptos Display"/>
              </a:rPr>
              <a:t>Primary modules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389888"/>
            <a:ext cx="34747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32F3E"/>
                </a:solidFill>
                <a:latin typeface="Aptos"/>
              </a:rPr>
              <a:t>phase1/: naive RAG baseline and FAISS index</a:t>
            </a:r>
            <a:br/>
            <a:br/>
            <a:r>
              <a:t>phase2/: symbolic decomposer and DAG planner</a:t>
            </a:r>
            <a:br/>
            <a:br/>
            <a:r>
              <a:t>phase3/: retrieval router over Qdrant, Neo4j, and SymPy</a:t>
            </a:r>
            <a:br/>
            <a:br/>
            <a:r>
              <a:t>phase4/: multi-hop agent with hop traces and synthesis</a:t>
            </a:r>
            <a:br/>
            <a:br/>
            <a:r>
              <a:t>phase5/: hallucination guard and formal verifier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914400"/>
            <a:ext cx="3520440" cy="2423160"/>
          </a:xfrm>
          <a:prstGeom prst="roundRect">
            <a:avLst/>
          </a:prstGeom>
          <a:solidFill>
            <a:srgbClr val="D9EEF2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90872" y="1024128"/>
            <a:ext cx="3200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1F33"/>
                </a:solidFill>
                <a:latin typeface="Aptos Display"/>
              </a:rPr>
              <a:t>Supporting assets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0872" y="1389888"/>
            <a:ext cx="320040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32F3E"/>
                </a:solidFill>
                <a:latin typeface="Aptos"/>
              </a:rPr>
              <a:t>eval/: shared EM/F1 harness</a:t>
            </a:r>
            <a:br/>
            <a:br/>
            <a:r>
              <a:t>datasets/ and benchmarks/: HotpotQA, MuSiQue, 2Wiki, TheoremQA loaders</a:t>
            </a:r>
            <a:br/>
            <a:br/>
            <a:r>
              <a:t>vector_db/ and baselines/: external resources and comparisons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3611880"/>
            <a:ext cx="3520440" cy="2423160"/>
          </a:xfrm>
          <a:prstGeom prst="roundRect">
            <a:avLst/>
          </a:prstGeom>
          <a:solidFill>
            <a:srgbClr val="FCE7C3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0872" y="3721608"/>
            <a:ext cx="3200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1F33"/>
                </a:solidFill>
                <a:latin typeface="Aptos Display"/>
              </a:rPr>
              <a:t>Core stack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4087368"/>
            <a:ext cx="320040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32F3E"/>
                </a:solidFill>
                <a:latin typeface="Aptos"/>
              </a:rPr>
              <a:t>Groq for LLM calls</a:t>
            </a:r>
            <a:br/>
            <a:r>
              <a:t>BAAI bge-base-en-v1.5 for embeddings</a:t>
            </a:r>
            <a:br/>
            <a:r>
              <a:t>Qdrant for local vector storage</a:t>
            </a:r>
            <a:br/>
            <a:r>
              <a:t>Optional Neo4j graph retrieval</a:t>
            </a:r>
            <a:br/>
            <a:r>
              <a:t>SymPy for symbolic solving and verification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914400"/>
            <a:ext cx="3429000" cy="5120640"/>
          </a:xfrm>
          <a:prstGeom prst="roundRect">
            <a:avLst/>
          </a:prstGeom>
          <a:solidFill>
            <a:srgbClr val="F6D7D3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9912" y="1024128"/>
            <a:ext cx="3108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1F33"/>
                </a:solidFill>
                <a:latin typeface="Aptos Display"/>
              </a:rPr>
              <a:t>Important nuance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9912" y="1389888"/>
            <a:ext cx="310896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32F3E"/>
                </a:solidFill>
                <a:latin typeface="Aptos"/>
              </a:rPr>
              <a:t>The architecture is stronger than the current headline score.</a:t>
            </a:r>
            <a:br/>
            <a:br/>
            <a:r>
              <a:t>The repo already contains early knowledge alignment, graph hooks, solver hooks, and verification gates, but some of those paths are scaffolded or optional in the present benchmark run.</a:t>
            </a:r>
            <a:br/>
            <a:br/>
            <a:r>
              <a:t>That means the project is best framed as a complete prototype with one remaining integration bottleneck.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6419088"/>
            <a:ext cx="2788920" cy="329184"/>
          </a:xfrm>
          <a:prstGeom prst="round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8280" y="6483096"/>
            <a:ext cx="2514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NSRAG | submission-ready snapshot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008"/>
            <a:ext cx="79552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 Display"/>
              </a:rPr>
              <a:t>System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66760" y="91440"/>
            <a:ext cx="3291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F7F4EA"/>
                </a:solidFill>
                <a:latin typeface="Aptos"/>
              </a:rPr>
              <a:t>implemented architecture</a:t>
            </a:r>
          </a:p>
        </p:txBody>
      </p:sp>
      <p:pic>
        <p:nvPicPr>
          <p:cNvPr id="5" name="Picture 4" descr="nsrag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22960"/>
            <a:ext cx="11338560" cy="55817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5989320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Interpretation: the decomposition and retrieval backbone is already convincing; the current gap is turning that structure into stronger exact final answers.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6419088"/>
            <a:ext cx="2788920" cy="329184"/>
          </a:xfrm>
          <a:prstGeom prst="round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98280" y="6483096"/>
            <a:ext cx="2514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NSRAG | submission-ready snapshot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008"/>
            <a:ext cx="79552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 Display"/>
              </a:rPr>
              <a:t>Phase-Wise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66760" y="91440"/>
            <a:ext cx="3291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F7F4EA"/>
                </a:solidFill>
                <a:latin typeface="Aptos"/>
              </a:rPr>
              <a:t>achieved results as of now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51560"/>
          <a:ext cx="1124712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/>
                <a:gridCol w="2331720"/>
                <a:gridCol w="6126480"/>
                <a:gridCol w="2011680"/>
              </a:tblGrid>
              <a:tr h="746760"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Phase</a:t>
                      </a:r>
                    </a:p>
                  </a:txBody>
                  <a:tcPr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Module</a:t>
                      </a:r>
                    </a:p>
                  </a:txBody>
                  <a:tcPr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Achieved Result</a:t>
                      </a:r>
                    </a:p>
                  </a:txBody>
                  <a:tcPr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600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0B1F33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32F3E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32F3E"/>
                          </a:solidFill>
                        </a:rPr>
                        <a:t>Naive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32F3E"/>
                          </a:solidFill>
                        </a:rPr>
                        <a:t>HotpotQA 1000-sample baseline: EM 16.6, F1 35.32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32F3E"/>
                          </a:solidFill>
                        </a:rPr>
                        <a:t>Complete</a:t>
                      </a:r>
                    </a:p>
                  </a:txBody>
                  <a:tcPr>
                    <a:solidFill>
                      <a:srgbClr val="D4F0EA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32F3E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32F3E"/>
                          </a:solidFill>
                        </a:rPr>
                        <a:t>Decomposer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32F3E"/>
                          </a:solidFill>
                        </a:rPr>
                        <a:t>DAG validity 100.0 | hop accuracy 100.0 | domain 100.0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32F3E"/>
                          </a:solidFill>
                        </a:rPr>
                        <a:t>Complete</a:t>
                      </a:r>
                    </a:p>
                  </a:txBody>
                  <a:tcPr>
                    <a:solidFill>
                      <a:srgbClr val="D4F0EA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32F3E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32F3E"/>
                          </a:solidFill>
                        </a:rPr>
                        <a:t>Hybrid retrieval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32F3E"/>
                          </a:solidFill>
                        </a:rPr>
                        <a:t>Recall@5 84.0 | Recall@10 84.0 | MRR 0.8027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32F3E"/>
                          </a:solidFill>
                        </a:rPr>
                        <a:t>Complete</a:t>
                      </a:r>
                    </a:p>
                  </a:txBody>
                  <a:tcPr>
                    <a:solidFill>
                      <a:srgbClr val="D4F0EA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32F3E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32F3E"/>
                          </a:solidFill>
                        </a:rPr>
                        <a:t>NSRAG 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32F3E"/>
                          </a:solidFill>
                        </a:rPr>
                        <a:t>EM 8.8 | F1 19.53 | avg hops 2.02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32F3E"/>
                          </a:solidFill>
                        </a:rPr>
                        <a:t>In progress</a:t>
                      </a:r>
                    </a:p>
                  </a:txBody>
                  <a:tcPr>
                    <a:solidFill>
                      <a:srgbClr val="FCE7C3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32F3E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32F3E"/>
                          </a:solidFill>
                        </a:rPr>
                        <a:t>Formal verifier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32F3E"/>
                          </a:solidFill>
                        </a:rPr>
                        <a:t>Equation checks, CoVe, and attribution guard implemented; final benchmark report still pending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232F3E"/>
                          </a:solidFill>
                        </a:rPr>
                        <a:t>Pending eval</a:t>
                      </a:r>
                    </a:p>
                  </a:txBody>
                  <a:tcPr>
                    <a:solidFill>
                      <a:srgbClr val="F6D7D3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21792" y="580644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Best headline: phases 2 and 3 are solidly validated; phase 4 is implemented and close to the intended milestone.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6419088"/>
            <a:ext cx="2788920" cy="329184"/>
          </a:xfrm>
          <a:prstGeom prst="round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98280" y="6483096"/>
            <a:ext cx="2514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NSRAG | submission-ready snapshot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008"/>
            <a:ext cx="79552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 Display"/>
              </a:rPr>
              <a:t>Current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66760" y="91440"/>
            <a:ext cx="3291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F7F4EA"/>
                </a:solidFill>
                <a:latin typeface="Aptos"/>
              </a:rPr>
              <a:t>where the project stands today</a:t>
            </a:r>
          </a:p>
        </p:txBody>
      </p:sp>
      <p:pic>
        <p:nvPicPr>
          <p:cNvPr id="5" name="Picture 4" descr="nsrag_results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14400"/>
            <a:ext cx="6492240" cy="232912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0" y="1005840"/>
            <a:ext cx="3931920" cy="1325880"/>
          </a:xfrm>
          <a:prstGeom prst="roundRect">
            <a:avLst/>
          </a:prstGeom>
          <a:solidFill>
            <a:srgbClr val="D4F0EA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79792" y="1115568"/>
            <a:ext cx="3611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1F33"/>
                </a:solidFill>
                <a:latin typeface="Aptos Display"/>
              </a:rPr>
              <a:t>Strongest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79792" y="1481328"/>
            <a:ext cx="36118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32F3E"/>
                </a:solidFill>
                <a:latin typeface="Aptos"/>
              </a:rPr>
              <a:t>The decomposer and retrieval stack are already convincing and give the project real technical depth.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2560320"/>
            <a:ext cx="3931920" cy="1325880"/>
          </a:xfrm>
          <a:prstGeom prst="roundRect">
            <a:avLst/>
          </a:prstGeom>
          <a:solidFill>
            <a:srgbClr val="FCE7C3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79792" y="2670048"/>
            <a:ext cx="3611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1F33"/>
                </a:solidFill>
                <a:latin typeface="Aptos Display"/>
              </a:rPr>
              <a:t>Current 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79792" y="3035808"/>
            <a:ext cx="36118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32F3E"/>
                </a:solidFill>
                <a:latin typeface="Aptos"/>
              </a:rPr>
              <a:t>Phase 4 is narrowly below target: EM 8.8 vs 10, F1 19.53 vs 20.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4114800"/>
            <a:ext cx="3931920" cy="1417320"/>
          </a:xfrm>
          <a:prstGeom prst="roundRect">
            <a:avLst/>
          </a:prstGeom>
          <a:solidFill>
            <a:srgbClr val="F6D7D3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79792" y="4224528"/>
            <a:ext cx="3611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1F33"/>
                </a:solidFill>
                <a:latin typeface="Aptos Display"/>
              </a:rPr>
              <a:t>Honest comparison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79792" y="4590288"/>
            <a:ext cx="36118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32F3E"/>
                </a:solidFill>
                <a:latin typeface="Aptos"/>
              </a:rPr>
              <a:t>The simple baseline still beats the current agent on HotpotQA answer quality: EM 16.6 / F1 35.32.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6419088"/>
            <a:ext cx="2788920" cy="329184"/>
          </a:xfrm>
          <a:prstGeom prst="round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6483096"/>
            <a:ext cx="2514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NSRAG | submission-ready snapshot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4008"/>
            <a:ext cx="79552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 Display"/>
              </a:rPr>
              <a:t>What I Think About The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66760" y="91440"/>
            <a:ext cx="3291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F7F4EA"/>
                </a:solidFill>
                <a:latin typeface="Aptos"/>
              </a:rPr>
              <a:t>balanced assessment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05840"/>
            <a:ext cx="3520440" cy="4389120"/>
          </a:xfrm>
          <a:prstGeom prst="roundRect">
            <a:avLst/>
          </a:prstGeom>
          <a:solidFill>
            <a:srgbClr val="D9EEF2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115568"/>
            <a:ext cx="3200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1F33"/>
                </a:solidFill>
                <a:latin typeface="Aptos Display"/>
              </a:rPr>
              <a:t>Why it is strong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481328"/>
            <a:ext cx="3200400" cy="3749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32F3E"/>
                </a:solidFill>
                <a:latin typeface="Aptos"/>
              </a:rPr>
              <a:t>The project is structurally impressive: it has a phase plan, acceptance gates, reusable evaluation, interpretable traces, and a verifier design.</a:t>
            </a:r>
            <a:br/>
            <a:br/>
            <a:r>
              <a:t>That already makes it more than a toy RAG demo.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4256" y="1005840"/>
            <a:ext cx="3520440" cy="4389120"/>
          </a:xfrm>
          <a:prstGeom prst="roundRect">
            <a:avLst/>
          </a:prstGeom>
          <a:solidFill>
            <a:srgbClr val="FCE7C3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8848" y="1115568"/>
            <a:ext cx="3200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1F33"/>
                </a:solidFill>
                <a:latin typeface="Aptos Display"/>
              </a:rPr>
              <a:t>What needs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8848" y="1481328"/>
            <a:ext cx="3200400" cy="3749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32F3E"/>
                </a:solidFill>
                <a:latin typeface="Aptos"/>
              </a:rPr>
              <a:t>The agent controller still loses too much quality between retrieval and final synthesis.</a:t>
            </a:r>
            <a:br/>
            <a:br/>
            <a:r>
              <a:t>A lot of the gap looks like orchestration and exactness, not a lack of project vision.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005840"/>
            <a:ext cx="3520440" cy="4389120"/>
          </a:xfrm>
          <a:prstGeom prst="roundRect">
            <a:avLst/>
          </a:prstGeom>
          <a:solidFill>
            <a:srgbClr val="D4F0EA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84464" y="1115568"/>
            <a:ext cx="3200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1F33"/>
                </a:solidFill>
                <a:latin typeface="Aptos Display"/>
              </a:rPr>
              <a:t>Best framing for submission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84464" y="1481328"/>
            <a:ext cx="3200400" cy="3749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32F3E"/>
                </a:solidFill>
                <a:latin typeface="Aptos"/>
              </a:rPr>
              <a:t>Call it a serious neuro-symbolic reasoning prototype with validated decomposition and retrieval, plus a near-complete agent/verifier stack.</a:t>
            </a:r>
            <a:br/>
            <a:br/>
            <a:r>
              <a:t>That claim is ambitious, accurate, and defensible.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66928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1F33"/>
                </a:solidFill>
                <a:latin typeface="Aptos Display"/>
              </a:rPr>
              <a:t>Bottom line: the idea is good, the codebase is real, and the remaining gap is concentrated in Phase 4 quality tuning.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6419088"/>
            <a:ext cx="2788920" cy="329184"/>
          </a:xfrm>
          <a:prstGeom prst="roundRect">
            <a:avLst/>
          </a:prstGeom>
          <a:solidFill>
            <a:srgbClr val="1F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6483096"/>
            <a:ext cx="25146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NSRAG | submission-ready snapshot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77240"/>
            <a:ext cx="6400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2A541"/>
                </a:solidFill>
                <a:latin typeface="Aptos Display"/>
              </a:rPr>
              <a:t>How To Present This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69494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>
                <a:solidFill>
                  <a:srgbClr val="FFFFFF"/>
                </a:solidFill>
                <a:latin typeface="Aptos"/>
              </a:rPr>
              <a:t>Lead with the architecture and the phase-wise engineering story.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FFFFFF"/>
                </a:solidFill>
                <a:latin typeface="Aptos"/>
              </a:rPr>
              <a:t>Report decomposition and retrieval as achieved results, not only planned goals.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FFFFFF"/>
                </a:solidFill>
                <a:latin typeface="Aptos"/>
              </a:rPr>
              <a:t>Describe Phase 4 as implemented, evaluated, and close to target rather than fully complete.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FFFFFF"/>
                </a:solidFill>
                <a:latin typeface="Aptos"/>
              </a:rPr>
              <a:t>Describe Phase 5 as the verifier pipeline already coded and ready for final reporting.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FFFFFF"/>
                </a:solidFill>
                <a:latin typeface="Aptos"/>
              </a:rPr>
              <a:t>Say the project is moving from a strong prototype to a full verified reasoning system.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80960" y="1371600"/>
            <a:ext cx="3657600" cy="3291840"/>
          </a:xfrm>
          <a:prstGeom prst="roundRect">
            <a:avLst/>
          </a:prstGeom>
          <a:solidFill>
            <a:srgbClr val="F7F4EA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45552" y="1481328"/>
            <a:ext cx="3337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B1F33"/>
                </a:solidFill>
                <a:latin typeface="Aptos Display"/>
              </a:rPr>
              <a:t>Closing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45552" y="1847088"/>
            <a:ext cx="333756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32F3E"/>
                </a:solidFill>
                <a:latin typeface="Aptos"/>
              </a:rPr>
              <a:t>NSRAG already demonstrates a real neuro-symbolic multi-hop stack.</a:t>
            </a:r>
            <a:br/>
            <a:br/>
            <a:r>
              <a:t>The most credible submission story is not finished SOTA performance, but a well-built and nearly-complete verifiable reasoning framework.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8120" y="5120640"/>
            <a:ext cx="3383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7F4EA"/>
                </a:solidFill>
                <a:latin typeface="Aptos"/>
              </a:rPr>
              <a:t>Practical reminder: remove or rotate any API keys before sharing the repo or slides.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26364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7F4EA"/>
                </a:solidFill>
                <a:latin typeface="Aptos"/>
              </a:rPr>
              <a:t>Files generated from current repo artifacts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